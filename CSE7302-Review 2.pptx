
<file path=[Content_Types].xml><?xml version="1.0" encoding="utf-8"?>
<Types xmlns="http://schemas.openxmlformats.org/package/2006/content-types">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70" r:id="rId5"/>
    <p:sldId id="262" r:id="rId6"/>
    <p:sldId id="263" r:id="rId7"/>
    <p:sldId id="264" r:id="rId8"/>
    <p:sldId id="265" r:id="rId9"/>
    <p:sldId id="271" r:id="rId10"/>
    <p:sldId id="276" r:id="rId11"/>
    <p:sldId id="272" r:id="rId12"/>
    <p:sldId id="273" r:id="rId13"/>
    <p:sldId id="274" r:id="rId14"/>
    <p:sldId id="275" r:id="rId15"/>
    <p:sldId id="267" r:id="rId16"/>
    <p:sldId id="268"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48" autoAdjust="0"/>
    <p:restoredTop sz="94660"/>
  </p:normalViewPr>
  <p:slideViewPr>
    <p:cSldViewPr snapToGrid="0">
      <p:cViewPr varScale="1">
        <p:scale>
          <a:sx n="78" d="100"/>
          <a:sy n="78" d="100"/>
        </p:scale>
        <p:origin x="55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B3E8F52-857A-4C89-954C-57943DB51290}"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C2A547-6E4B-4188-9BD5-035CB9C4BCC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2706E29-16A1-4AAE-B55B-4E3DB726560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892026" y="1793967"/>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US"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Ms. Priyanka Niranjan Savadekar</a:t>
            </a:r>
            <a:endParaRPr lang="en-US" altLang="en-US"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IN"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lang="en-IN"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i="0" u="none" strike="noStrike" cap="none" dirty="0" err="1">
                <a:latin typeface="Cambria" panose="02040503050406030204" pitchFamily="18" charset="0"/>
                <a:ea typeface="Cambria" panose="02040503050406030204" pitchFamily="18" charset="0"/>
                <a:cs typeface="Verdana" panose="020B0604030504040204"/>
                <a:sym typeface="Verdana" panose="020B0604030504040204"/>
              </a:rPr>
              <a:t>B.Tech</a:t>
            </a:r>
            <a:r>
              <a:rPr lang="en-US" sz="2000" b="1" i="0" u="none" strike="noStrike" cap="none" dirty="0">
                <a:latin typeface="Cambria" panose="02040503050406030204" pitchFamily="18" charset="0"/>
                <a:ea typeface="Cambria" panose="02040503050406030204" pitchFamily="18" charset="0"/>
                <a:cs typeface="Verdana" panose="020B0604030504040204"/>
                <a:sym typeface="Verdana" panose="020B0604030504040204"/>
              </a:rPr>
              <a:t> Computer Science And Engineering</a:t>
            </a:r>
            <a:endParaRPr lang="en-US" sz="2000" b="1" i="0" u="none" strike="noStrike" cap="none" dirty="0">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a:t>
            </a:r>
            <a:r>
              <a:rPr lang="en-US" sz="2000" b="1" dirty="0" smtClean="0">
                <a:solidFill>
                  <a:srgbClr val="000000"/>
                </a:solidFill>
                <a:latin typeface="Cambria" panose="02040503050406030204" pitchFamily="18" charset="0"/>
                <a:ea typeface="Cambria" panose="02040503050406030204" pitchFamily="18" charset="0"/>
                <a:cs typeface="Verdana" panose="020B0604030504040204"/>
                <a:sym typeface="Verdana" panose="020B0604030504040204"/>
              </a:rPr>
              <a:t>Dr. Asif Mohammed </a:t>
            </a:r>
            <a:endParaRPr lang="en-US" sz="2000" b="1" dirty="0" smtClean="0">
              <a:solidFill>
                <a:srgbClr val="000000"/>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Project</a:t>
            </a: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Coordinator: </a:t>
            </a:r>
            <a:r>
              <a:rPr lang="en-US" sz="2000" b="1" dirty="0" smtClean="0">
                <a:solidFill>
                  <a:srgbClr val="000000"/>
                </a:solidFill>
                <a:latin typeface="Cambria" panose="02040503050406030204" pitchFamily="18" charset="0"/>
                <a:ea typeface="Cambria" panose="02040503050406030204" pitchFamily="18" charset="0"/>
                <a:cs typeface="Verdana" panose="020B0604030504040204"/>
                <a:sym typeface="Verdana" panose="020B0604030504040204"/>
              </a:rPr>
              <a:t>Dr. Jayavadivel Ravi</a:t>
            </a:r>
            <a:endParaRPr lang="en-US" sz="2000" b="1" dirty="0" smtClean="0">
              <a:solidFill>
                <a:srgbClr val="000000"/>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Dr. Sampath A K, Dr. Geetha A</a:t>
            </a:r>
            <a:endParaRPr lang="en-US" sz="2000" b="1" dirty="0">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233907"/>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PROJECT</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Review-2 Presentation </a:t>
            </a:r>
            <a:endPar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algn="ct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Batch Number:  CSE_45</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alt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AI Driven Public Health Chatbot for Disease Awareness </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nvGraphicFramePr>
        <p:xfrm>
          <a:off x="384958" y="2130453"/>
          <a:ext cx="5711042" cy="1560060"/>
        </p:xfrm>
        <a:graphic>
          <a:graphicData uri="http://schemas.openxmlformats.org/drawingml/2006/table">
            <a:tbl>
              <a:tblPr firstRow="1" bandRow="1">
                <a:tableStyleId>{5C22544A-7EE6-4342-B048-85BDC9FD1C3A}</a:tableStyleId>
              </a:tblPr>
              <a:tblGrid>
                <a:gridCol w="2855521"/>
                <a:gridCol w="2855521"/>
              </a:tblGrid>
              <a:tr h="390015">
                <a:tc>
                  <a:txBody>
                    <a:bodyPr/>
                    <a:lstStyle/>
                    <a:p>
                      <a:pPr algn="ctr"/>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Roll No</a:t>
                      </a:r>
                      <a:endParaRPr lang="en-IN" dirty="0">
                        <a:latin typeface="Times New Roman" panose="02020603050405020304" pitchFamily="18" charset="0"/>
                        <a:cs typeface="Times New Roman" panose="02020603050405020304" pitchFamily="18" charset="0"/>
                      </a:endParaRPr>
                    </a:p>
                  </a:txBody>
                  <a:tcPr anchor="ctr"/>
                </a:tc>
              </a:tr>
              <a:tr h="390015">
                <a:tc>
                  <a:txBody>
                    <a:bodyPr/>
                    <a:lstStyle/>
                    <a:p>
                      <a:pPr algn="ctr"/>
                      <a:r>
                        <a:rPr lang="en-US" altLang="en-IN" dirty="0">
                          <a:latin typeface="Times New Roman" panose="02020603050405020304" pitchFamily="18" charset="0"/>
                          <a:cs typeface="Times New Roman" panose="02020603050405020304" pitchFamily="18" charset="0"/>
                        </a:rPr>
                        <a:t>Anusha G</a:t>
                      </a:r>
                      <a:endParaRPr lang="en-US" alt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20221CSE0577</a:t>
                      </a:r>
                      <a:endParaRPr lang="en-IN" dirty="0">
                        <a:latin typeface="Times New Roman" panose="02020603050405020304" pitchFamily="18" charset="0"/>
                        <a:cs typeface="Times New Roman" panose="02020603050405020304" pitchFamily="18" charset="0"/>
                      </a:endParaRPr>
                    </a:p>
                  </a:txBody>
                  <a:tcPr anchor="ctr"/>
                </a:tc>
              </a:tr>
              <a:tr h="390015">
                <a:tc>
                  <a:txBody>
                    <a:bodyPr/>
                    <a:lstStyle/>
                    <a:p>
                      <a:pPr algn="ctr"/>
                      <a:r>
                        <a:rPr lang="en-US" altLang="en-IN" dirty="0">
                          <a:latin typeface="Times New Roman" panose="02020603050405020304" pitchFamily="18" charset="0"/>
                          <a:cs typeface="Times New Roman" panose="02020603050405020304" pitchFamily="18" charset="0"/>
                        </a:rPr>
                        <a:t>Mythri D C</a:t>
                      </a:r>
                      <a:endParaRPr lang="en-US" alt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20221CSE0538</a:t>
                      </a:r>
                      <a:endParaRPr lang="en-IN" dirty="0">
                        <a:latin typeface="Times New Roman" panose="02020603050405020304" pitchFamily="18" charset="0"/>
                        <a:cs typeface="Times New Roman" panose="02020603050405020304" pitchFamily="18" charset="0"/>
                      </a:endParaRPr>
                    </a:p>
                  </a:txBody>
                  <a:tcPr anchor="ctr"/>
                </a:tc>
              </a:tr>
              <a:tr h="390015">
                <a:tc>
                  <a:txBody>
                    <a:bodyPr/>
                    <a:lstStyle/>
                    <a:p>
                      <a:pPr algn="ctr"/>
                      <a:r>
                        <a:rPr lang="en-US" altLang="en-US" dirty="0">
                          <a:latin typeface="Times New Roman" panose="02020603050405020304" pitchFamily="18" charset="0"/>
                          <a:cs typeface="Times New Roman" panose="02020603050405020304" pitchFamily="18" charset="0"/>
                        </a:rPr>
                        <a:t>SWETA SHIVAPPA MADIVALAR</a:t>
                      </a:r>
                      <a:endParaRPr lang="en-US"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20221CSE0623</a:t>
                      </a:r>
                      <a:endParaRPr lang="en-IN" dirty="0">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Abstract</a:t>
            </a:r>
            <a:endParaRPr lang="en-US" sz="2000" b="1" dirty="0">
              <a:solidFill>
                <a:srgbClr val="0070C0"/>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Survey</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Existing Methods and drawbacks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Method and </a:t>
            </a:r>
            <a:r>
              <a:rPr lang="en-IN" sz="2000" b="1" dirty="0" err="1">
                <a:solidFill>
                  <a:schemeClr val="accent1">
                    <a:lumMod val="75000"/>
                  </a:schemeClr>
                </a:solidFill>
                <a:latin typeface="Times New Roman" panose="02020603050405020304" pitchFamily="18" charset="0"/>
                <a:cs typeface="Times New Roman" panose="02020603050405020304" pitchFamily="18" charset="0"/>
              </a:rPr>
              <a:t>Feasability</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Architecture Diagram</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Modules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Timeline </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Project Roadmap</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cxnSp>
        <p:nvCxnSpPr>
          <p:cNvPr id="2" name="Straight Connector 1"/>
          <p:cNvCxnSpPr/>
          <p:nvPr/>
        </p:nvCxnSpPr>
        <p:spPr>
          <a:xfrm>
            <a:off x="838200" y="833501"/>
            <a:ext cx="10980174" cy="0"/>
          </a:xfrm>
          <a:prstGeom prst="line">
            <a:avLst/>
          </a:prstGeom>
          <a:ln w="28575"/>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55" y="136525"/>
            <a:ext cx="10278745" cy="443230"/>
          </a:xfrm>
        </p:spPr>
        <p:txBody>
          <a:bodyPr>
            <a:normAutofit fontScale="90000"/>
          </a:bodyPr>
          <a:lstStyle/>
          <a:p>
            <a:r>
              <a:rPr lang="en-US" altLang="en-IN" sz="3200" b="1" dirty="0">
                <a:solidFill>
                  <a:schemeClr val="accent1">
                    <a:lumMod val="75000"/>
                  </a:schemeClr>
                </a:solidFill>
                <a:latin typeface="Times New Roman" panose="02020603050405020304" pitchFamily="18" charset="0"/>
                <a:cs typeface="Times New Roman" panose="02020603050405020304" pitchFamily="18" charset="0"/>
              </a:rPr>
              <a:t>                                 </a:t>
            </a:r>
            <a:r>
              <a:rPr lang="en-IN" sz="3200" b="1" dirty="0">
                <a:solidFill>
                  <a:schemeClr val="accent1">
                    <a:lumMod val="75000"/>
                  </a:schemeClr>
                </a:solidFill>
                <a:latin typeface="Times New Roman" panose="02020603050405020304" pitchFamily="18" charset="0"/>
                <a:cs typeface="Times New Roman" panose="02020603050405020304" pitchFamily="18" charset="0"/>
              </a:rPr>
              <a:t>ABSTRACT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3" name="Text Box 2"/>
          <p:cNvSpPr txBox="1"/>
          <p:nvPr/>
        </p:nvSpPr>
        <p:spPr>
          <a:xfrm>
            <a:off x="73660" y="579755"/>
            <a:ext cx="11686540" cy="5255895"/>
          </a:xfrm>
          <a:prstGeom prst="rect">
            <a:avLst/>
          </a:prstGeom>
        </p:spPr>
        <p:txBody>
          <a:bodyPr wrap="square">
            <a:noAutofit/>
          </a:bodyPr>
          <a:p>
            <a:r>
              <a:rPr sz="1600">
                <a:latin typeface="Times New Roman" panose="02020603050405020304" pitchFamily="18" charset="0"/>
                <a:cs typeface="Times New Roman" panose="02020603050405020304" pitchFamily="18" charset="0"/>
              </a:rPr>
              <a:t>Public health awareness is essential to reduce the impact of common diseases and medical emergencies.</a:t>
            </a:r>
            <a:endParaRPr sz="1600">
              <a:latin typeface="Times New Roman" panose="02020603050405020304" pitchFamily="18" charset="0"/>
              <a:cs typeface="Times New Roman" panose="02020603050405020304" pitchFamily="18" charset="0"/>
            </a:endParaRPr>
          </a:p>
          <a:p>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This project develops an AI-driven public health chatbot to provide quick and reliable disease-related information.</a:t>
            </a:r>
            <a:endParaRPr sz="1600">
              <a:latin typeface="Times New Roman" panose="02020603050405020304" pitchFamily="18" charset="0"/>
              <a:cs typeface="Times New Roman" panose="02020603050405020304" pitchFamily="18" charset="0"/>
            </a:endParaRPr>
          </a:p>
          <a:p>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The system uses a hybrid AI approach, combining keyword-based detection and a machine learning model (KNN with TF-IDF) for accurate disease identification.</a:t>
            </a:r>
            <a:endParaRPr sz="1600">
              <a:latin typeface="Times New Roman" panose="02020603050405020304" pitchFamily="18" charset="0"/>
              <a:cs typeface="Times New Roman" panose="02020603050405020304" pitchFamily="18" charset="0"/>
            </a:endParaRPr>
          </a:p>
          <a:p>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A multilingual dataset enables responses in English, Telugu, Kannada, and Odia, improving accessibility for diverse users.</a:t>
            </a:r>
            <a:endParaRPr sz="1600">
              <a:latin typeface="Times New Roman" panose="02020603050405020304" pitchFamily="18" charset="0"/>
              <a:cs typeface="Times New Roman" panose="02020603050405020304" pitchFamily="18" charset="0"/>
            </a:endParaRPr>
          </a:p>
          <a:p>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The chatbot provides:</a:t>
            </a:r>
            <a:endParaRPr sz="1600">
              <a:latin typeface="Times New Roman" panose="02020603050405020304" pitchFamily="18" charset="0"/>
              <a:cs typeface="Times New Roman" panose="02020603050405020304" pitchFamily="18" charset="0"/>
            </a:endParaRPr>
          </a:p>
          <a:p>
            <a:endParaRPr sz="1600">
              <a:latin typeface="Times New Roman" panose="02020603050405020304" pitchFamily="18" charset="0"/>
              <a:cs typeface="Times New Roman" panose="02020603050405020304" pitchFamily="18" charset="0"/>
            </a:endParaRPr>
          </a:p>
          <a:p>
            <a:pPr>
              <a:buFont typeface="Arial" panose="020B0604020202020204"/>
              <a:buChar char="•"/>
            </a:pPr>
            <a:r>
              <a:rPr sz="1600">
                <a:latin typeface="Times New Roman" panose="02020603050405020304" pitchFamily="18" charset="0"/>
                <a:cs typeface="Times New Roman" panose="02020603050405020304" pitchFamily="18" charset="0"/>
              </a:rPr>
              <a:t>Disease symptoms</a:t>
            </a:r>
            <a:endParaRPr sz="1600">
              <a:latin typeface="Times New Roman" panose="02020603050405020304" pitchFamily="18" charset="0"/>
              <a:cs typeface="Times New Roman" panose="02020603050405020304" pitchFamily="18" charset="0"/>
            </a:endParaRPr>
          </a:p>
          <a:p>
            <a:pPr>
              <a:buFont typeface="Arial" panose="020B0604020202020204"/>
              <a:buChar char="•"/>
            </a:pPr>
            <a:endParaRPr sz="1600">
              <a:latin typeface="Times New Roman" panose="02020603050405020304" pitchFamily="18" charset="0"/>
              <a:cs typeface="Times New Roman" panose="02020603050405020304" pitchFamily="18" charset="0"/>
            </a:endParaRPr>
          </a:p>
          <a:p>
            <a:pPr>
              <a:buFont typeface="Arial" panose="020B0604020202020204"/>
              <a:buChar char="•"/>
            </a:pPr>
            <a:r>
              <a:rPr sz="1600">
                <a:latin typeface="Times New Roman" panose="02020603050405020304" pitchFamily="18" charset="0"/>
                <a:cs typeface="Times New Roman" panose="02020603050405020304" pitchFamily="18" charset="0"/>
              </a:rPr>
              <a:t>Modern medical precautions</a:t>
            </a:r>
            <a:endParaRPr sz="1600">
              <a:latin typeface="Times New Roman" panose="02020603050405020304" pitchFamily="18" charset="0"/>
              <a:cs typeface="Times New Roman" panose="02020603050405020304" pitchFamily="18" charset="0"/>
            </a:endParaRPr>
          </a:p>
          <a:p>
            <a:pPr>
              <a:buFont typeface="Arial" panose="020B0604020202020204"/>
              <a:buChar char="•"/>
            </a:pPr>
            <a:endParaRPr sz="1600">
              <a:latin typeface="Times New Roman" panose="02020603050405020304" pitchFamily="18" charset="0"/>
              <a:cs typeface="Times New Roman" panose="02020603050405020304" pitchFamily="18" charset="0"/>
            </a:endParaRPr>
          </a:p>
          <a:p>
            <a:pPr>
              <a:buFont typeface="Arial" panose="020B0604020202020204"/>
              <a:buChar char="•"/>
            </a:pPr>
            <a:r>
              <a:rPr sz="1600">
                <a:latin typeface="Times New Roman" panose="02020603050405020304" pitchFamily="18" charset="0"/>
                <a:cs typeface="Times New Roman" panose="02020603050405020304" pitchFamily="18" charset="0"/>
              </a:rPr>
              <a:t>Ayurvedic remedies</a:t>
            </a:r>
            <a:endParaRPr sz="1600">
              <a:latin typeface="Times New Roman" panose="02020603050405020304" pitchFamily="18" charset="0"/>
              <a:cs typeface="Times New Roman" panose="02020603050405020304" pitchFamily="18" charset="0"/>
            </a:endParaRPr>
          </a:p>
          <a:p>
            <a:pPr>
              <a:buFont typeface="Arial" panose="020B0604020202020204"/>
              <a:buChar char="•"/>
            </a:pPr>
            <a:endParaRPr sz="1600">
              <a:latin typeface="Times New Roman" panose="02020603050405020304" pitchFamily="18" charset="0"/>
              <a:cs typeface="Times New Roman" panose="02020603050405020304" pitchFamily="18" charset="0"/>
            </a:endParaRPr>
          </a:p>
          <a:p>
            <a:pPr>
              <a:buFont typeface="Arial" panose="020B0604020202020204"/>
              <a:buChar char="•"/>
            </a:pPr>
            <a:r>
              <a:rPr sz="1600">
                <a:latin typeface="Times New Roman" panose="02020603050405020304" pitchFamily="18" charset="0"/>
                <a:cs typeface="Times New Roman" panose="02020603050405020304" pitchFamily="18" charset="0"/>
              </a:rPr>
              <a:t>Emergency guidance</a:t>
            </a:r>
            <a:endParaRPr sz="1600">
              <a:latin typeface="Times New Roman" panose="02020603050405020304" pitchFamily="18" charset="0"/>
              <a:cs typeface="Times New Roman" panose="02020603050405020304" pitchFamily="18" charset="0"/>
            </a:endParaRPr>
          </a:p>
          <a:p>
            <a:pPr>
              <a:buFont typeface="Arial" panose="020B0604020202020204"/>
              <a:buChar char="•"/>
            </a:pPr>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A real-time COVID-19 API is integrated to display live case statistics, enhancing data reliability.Voice input support allows users to interact hands-free, improving usability for elderly and rural users.</a:t>
            </a:r>
            <a:endParaRPr sz="1600">
              <a:latin typeface="Times New Roman" panose="02020603050405020304" pitchFamily="18" charset="0"/>
              <a:cs typeface="Times New Roman" panose="02020603050405020304" pitchFamily="18" charset="0"/>
            </a:endParaRPr>
          </a:p>
          <a:p>
            <a:endParaRPr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2130" y="365125"/>
            <a:ext cx="8281670" cy="167005"/>
          </a:xfrm>
        </p:spPr>
        <p:txBody>
          <a:bodyPr>
            <a:normAutofit fontScale="90000"/>
          </a:bodyPr>
          <a:lstStyle/>
          <a:p>
            <a:r>
              <a:rPr lang="en-IN" sz="2800" b="1" dirty="0">
                <a:solidFill>
                  <a:schemeClr val="accent1">
                    <a:lumMod val="75000"/>
                  </a:schemeClr>
                </a:solidFill>
                <a:latin typeface="Times New Roman" panose="02020603050405020304" pitchFamily="18" charset="0"/>
                <a:cs typeface="Times New Roman" panose="02020603050405020304" pitchFamily="18" charset="0"/>
              </a:rPr>
              <a:t>LITERATURE </a:t>
            </a:r>
            <a:r>
              <a:rPr lang="en-IN" sz="2800" b="1" dirty="0">
                <a:solidFill>
                  <a:schemeClr val="accent1">
                    <a:lumMod val="75000"/>
                  </a:schemeClr>
                </a:solidFill>
                <a:latin typeface="Times New Roman" panose="02020603050405020304" pitchFamily="18" charset="0"/>
                <a:cs typeface="Times New Roman" panose="02020603050405020304" pitchFamily="18" charset="0"/>
              </a:rPr>
              <a:t>SURVEY</a:t>
            </a:r>
            <a:endParaRPr lang="en-IN" sz="28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5" name="Text Box 4"/>
          <p:cNvSpPr txBox="1"/>
          <p:nvPr/>
        </p:nvSpPr>
        <p:spPr>
          <a:xfrm>
            <a:off x="97790" y="835660"/>
            <a:ext cx="12094845" cy="3353435"/>
          </a:xfrm>
          <a:prstGeom prst="rect">
            <a:avLst/>
          </a:prstGeom>
        </p:spPr>
        <p:txBody>
          <a:bodyPr>
            <a:noAutofit/>
          </a:bodyPr>
          <a:p>
            <a:pPr marL="285750" indent="-285750">
              <a:buFont typeface="Arial" panose="020B0604020202020204" pitchFamily="34" charset="0"/>
              <a:buChar char="•"/>
            </a:pPr>
            <a:r>
              <a:rPr sz="1600">
                <a:latin typeface="Times New Roman" panose="02020603050405020304" pitchFamily="18" charset="0"/>
                <a:cs typeface="Times New Roman" panose="02020603050405020304" pitchFamily="18" charset="0"/>
              </a:rPr>
              <a:t>Several studies have explored the use of chatbots in healthcare to provide basic medical assistance and disease-related information to users.</a:t>
            </a:r>
            <a:endParaRPr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sz="1600">
                <a:latin typeface="Times New Roman" panose="02020603050405020304" pitchFamily="18" charset="0"/>
                <a:cs typeface="Times New Roman" panose="02020603050405020304" pitchFamily="18" charset="0"/>
              </a:rPr>
              <a:t>Early healthcare chatbots were rule-based systems, which relied on predefined questions and answers but lacked flexibility and intelligence.</a:t>
            </a:r>
            <a:endParaRPr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600">
                <a:latin typeface="Times New Roman" panose="02020603050405020304" pitchFamily="18" charset="0"/>
                <a:cs typeface="Times New Roman" panose="02020603050405020304" pitchFamily="18" charset="0"/>
              </a:rPr>
              <a:t>With the advancement of Artificial Intelligence and Natural Language Processing (NLP), researchers introduced machine learning–based chatbots to understand user queries more effectively.</a:t>
            </a:r>
            <a:endParaRPr lang="en-US" altLang="en-US"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600">
                <a:latin typeface="Times New Roman" panose="02020603050405020304" pitchFamily="18" charset="0"/>
                <a:cs typeface="Times New Roman" panose="02020603050405020304" pitchFamily="18" charset="0"/>
              </a:rPr>
              <a:t>Research papers show that text classification algorithms such as Naive Bayes, KNN, and SVM are widely used for disease prediction and symptom analysis due to their simplicity and efficiency.</a:t>
            </a:r>
            <a:endParaRPr lang="en-US" altLang="en-US"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600">
                <a:latin typeface="Times New Roman" panose="02020603050405020304" pitchFamily="18" charset="0"/>
                <a:cs typeface="Times New Roman" panose="02020603050405020304" pitchFamily="18" charset="0"/>
              </a:rPr>
              <a:t>Some existing systems use deep learning models and large language models (LLMs), which provide high accuracy but require large datasets, high computational power, and continuous internet access.Studies on public health chatbots emphasize the importance of accuracy and safety, as incorrect medical advice can lead to serious consequences.</a:t>
            </a:r>
            <a:endParaRPr lang="en-US" altLang="en-US"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600">
                <a:latin typeface="Times New Roman" panose="02020603050405020304" pitchFamily="18" charset="0"/>
                <a:cs typeface="Times New Roman" panose="02020603050405020304" pitchFamily="18" charset="0"/>
              </a:rPr>
              <a:t>Multilingual healthcare systems have been proposed to overcome language barriers, but many existing solutions support only one or two languages, limiting accessibility. Voice-enabled health assistants have been studied to help elderly, rural, and visually impaired users, making healthcare information more inclusive.</a:t>
            </a:r>
            <a:endParaRPr lang="en-US" altLang="en-US"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600">
                <a:latin typeface="Times New Roman" panose="02020603050405020304" pitchFamily="18" charset="0"/>
                <a:cs typeface="Times New Roman" panose="02020603050405020304" pitchFamily="18" charset="0"/>
              </a:rPr>
              <a:t>From the literature, it is observed that a hybrid approach combining rule-based logic, machine learning, and APIs offers better reliability, interpretability, and usability for public health awareness systems.</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4565" y="365125"/>
            <a:ext cx="7849235" cy="455930"/>
          </a:xfrm>
        </p:spPr>
        <p:txBody>
          <a:bodyPr/>
          <a:lstStyle/>
          <a:p>
            <a:r>
              <a:rPr lang="en-IN" sz="2500" b="1" dirty="0">
                <a:solidFill>
                  <a:schemeClr val="accent1">
                    <a:lumMod val="75000"/>
                  </a:schemeClr>
                </a:solidFill>
                <a:latin typeface="Times New Roman" panose="02020603050405020304" pitchFamily="18" charset="0"/>
                <a:cs typeface="Times New Roman" panose="02020603050405020304" pitchFamily="18" charset="0"/>
              </a:rPr>
              <a:t>OBJECTIVES</a:t>
            </a:r>
            <a:endParaRPr lang="en-IN" sz="25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7" name="TextBox 6"/>
          <p:cNvSpPr txBox="1"/>
          <p:nvPr/>
        </p:nvSpPr>
        <p:spPr>
          <a:xfrm>
            <a:off x="135890" y="821055"/>
            <a:ext cx="12056110" cy="6423660"/>
          </a:xfrm>
          <a:prstGeom prst="rect">
            <a:avLst/>
          </a:prstGeom>
          <a:noFill/>
        </p:spPr>
        <p:txBody>
          <a:bodyPr wrap="square" rtlCol="0">
            <a:noAutofit/>
          </a:bodyPr>
          <a:lstStyle/>
          <a:p>
            <a:pPr>
              <a:lnSpc>
                <a:spcPct val="150000"/>
              </a:lnSpc>
            </a:pPr>
            <a:r>
              <a:rPr lang="en-US" altLang="en-US" sz="1600" dirty="0">
                <a:latin typeface="Times New Roman" panose="02020603050405020304" pitchFamily="18" charset="0"/>
                <a:cs typeface="Times New Roman" panose="02020603050405020304" pitchFamily="18" charset="0"/>
              </a:rPr>
              <a:t>OBJ-1: To design and develop an AI-driven public health chatbot that provides reliable disease awareness, preventive guidance, and emergency information through a single digital platform.</a:t>
            </a:r>
            <a:endParaRPr lang="en-US" altLang="en-US" sz="1600" dirty="0">
              <a:latin typeface="Times New Roman" panose="02020603050405020304" pitchFamily="18" charset="0"/>
              <a:cs typeface="Times New Roman" panose="02020603050405020304" pitchFamily="18" charset="0"/>
            </a:endParaRPr>
          </a:p>
          <a:p>
            <a:pPr>
              <a:lnSpc>
                <a:spcPct val="150000"/>
              </a:lnSpc>
            </a:pP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OBJ-2: To implement a hybrid intelligence model combining keyword-based detection and machine learning to accurately identify diseases from user input.</a:t>
            </a:r>
            <a:endParaRPr lang="en-US" altLang="en-US" sz="1600" dirty="0">
              <a:latin typeface="Times New Roman" panose="02020603050405020304" pitchFamily="18" charset="0"/>
              <a:cs typeface="Times New Roman" panose="02020603050405020304" pitchFamily="18" charset="0"/>
            </a:endParaRPr>
          </a:p>
          <a:p>
            <a:pPr>
              <a:lnSpc>
                <a:spcPct val="150000"/>
              </a:lnSpc>
            </a:pP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OBJ-3: To create a multilingual support system that delivers health information in regional languages such as English, Telugu, Kannada, and Odia to improve accessibility.</a:t>
            </a:r>
            <a:endParaRPr lang="en-US" altLang="en-US" sz="1600" dirty="0">
              <a:latin typeface="Times New Roman" panose="02020603050405020304" pitchFamily="18" charset="0"/>
              <a:cs typeface="Times New Roman" panose="02020603050405020304" pitchFamily="18" charset="0"/>
            </a:endParaRPr>
          </a:p>
          <a:p>
            <a:pPr>
              <a:lnSpc>
                <a:spcPct val="150000"/>
              </a:lnSpc>
            </a:pP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OBJ-4: To integrate real-time health APIs, particularly for COVID-19, in order to provide live and up-to-date public health statistics.</a:t>
            </a:r>
            <a:endParaRPr lang="en-US" altLang="en-US" sz="1600" dirty="0">
              <a:latin typeface="Times New Roman" panose="02020603050405020304" pitchFamily="18" charset="0"/>
              <a:cs typeface="Times New Roman" panose="02020603050405020304" pitchFamily="18" charset="0"/>
            </a:endParaRPr>
          </a:p>
          <a:p>
            <a:pPr>
              <a:lnSpc>
                <a:spcPct val="150000"/>
              </a:lnSpc>
            </a:pP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OBJ-5: To enable voice-based interaction and a mobile-friendly user interface for inclusive access by elderly, rural, and differently-abled users.</a:t>
            </a:r>
            <a:endParaRPr lang="en-US" altLang="en-US" sz="1600" dirty="0">
              <a:latin typeface="Times New Roman" panose="02020603050405020304" pitchFamily="18" charset="0"/>
              <a:cs typeface="Times New Roman" panose="02020603050405020304" pitchFamily="18" charset="0"/>
            </a:endParaRPr>
          </a:p>
          <a:p>
            <a:pPr>
              <a:lnSpc>
                <a:spcPct val="150000"/>
              </a:lnSpc>
            </a:pP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OBJ-6: To ensure safe and structured medical guidance by providing symptoms, modern treatment options, Ayurvedic remedies, and emergency instructions without replacing professional medical consultation.</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0855" y="365125"/>
            <a:ext cx="6486525" cy="819150"/>
          </a:xfrm>
        </p:spPr>
        <p:txBody>
          <a:bodyPr/>
          <a:lstStyle/>
          <a:p>
            <a:r>
              <a:rPr lang="en-IN" sz="2500" b="1" dirty="0">
                <a:solidFill>
                  <a:schemeClr val="accent1">
                    <a:lumMod val="75000"/>
                  </a:schemeClr>
                </a:solidFill>
                <a:latin typeface="Times New Roman" panose="02020603050405020304" pitchFamily="18" charset="0"/>
                <a:cs typeface="Times New Roman" panose="02020603050405020304" pitchFamily="18" charset="0"/>
              </a:rPr>
              <a:t>EXISTING METHODS AND DRAWBACKS</a:t>
            </a:r>
            <a:endParaRPr lang="en-IN" sz="25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7" name="TextBox 6"/>
          <p:cNvSpPr txBox="1"/>
          <p:nvPr/>
        </p:nvSpPr>
        <p:spPr>
          <a:xfrm>
            <a:off x="145415" y="948055"/>
            <a:ext cx="10879455" cy="4962525"/>
          </a:xfrm>
          <a:prstGeom prst="rect">
            <a:avLst/>
          </a:prstGeom>
          <a:noFill/>
        </p:spPr>
        <p:txBody>
          <a:bodyPr wrap="square" rtlCol="0">
            <a:noAutofit/>
          </a:bodyPr>
          <a:lstStyle/>
          <a:p>
            <a:pPr>
              <a:lnSpc>
                <a:spcPct val="150000"/>
              </a:lnSpc>
            </a:pPr>
            <a:r>
              <a:rPr lang="en-US" altLang="en-US" sz="2000" b="1" dirty="0">
                <a:latin typeface="Times New Roman" panose="02020603050405020304" pitchFamily="18" charset="0"/>
                <a:cs typeface="Times New Roman" panose="02020603050405020304" pitchFamily="18" charset="0"/>
              </a:rPr>
              <a:t>Existing Methods</a:t>
            </a:r>
            <a:endParaRPr lang="en-US" altLang="en-US" sz="2000" b="1"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1.Manual Health Consultation Systems</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Traditional health awareness relies on direct hospital visits, helplines, or medical camps for basic disease-related information.</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2.Static Health Websites and Portals</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Many government and private websites provide disease information in the form of articles and FAQs.</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3.Rule-Based Chatbots</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Early healthcare chatbots respond using predefined rules and fixed question–answer patterns.</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4.AI Chatbots Using Large Language Models (LLMs)</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Recent systems use advanced AI models to answer health-related queries conversationally.</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2000" b="1" dirty="0">
                <a:latin typeface="Times New Roman" panose="02020603050405020304" pitchFamily="18" charset="0"/>
                <a:cs typeface="Times New Roman" panose="02020603050405020304" pitchFamily="18" charset="0"/>
              </a:rPr>
              <a:t>Drawbacks of Existing Methods</a:t>
            </a:r>
            <a:endParaRPr lang="en-US" altLang="en-US" sz="2000" b="1"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1.Language and Accessibility Barriers</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2.Lack of Personalization</a:t>
            </a:r>
            <a:endParaRPr lang="en-US" altLang="en-US" sz="1600" dirty="0">
              <a:latin typeface="Times New Roman" panose="02020603050405020304" pitchFamily="18" charset="0"/>
              <a:cs typeface="Times New Roman" panose="02020603050405020304" pitchFamily="18" charset="0"/>
            </a:endParaRPr>
          </a:p>
          <a:p>
            <a:pPr>
              <a:lnSpc>
                <a:spcPct val="150000"/>
              </a:lnSpc>
            </a:pPr>
            <a:r>
              <a:rPr lang="en-US" altLang="en-US" sz="1600" dirty="0">
                <a:latin typeface="Times New Roman" panose="02020603050405020304" pitchFamily="18" charset="0"/>
                <a:cs typeface="Times New Roman" panose="02020603050405020304" pitchFamily="18" charset="0"/>
              </a:rPr>
              <a:t>3.Risk of Unsafe or Unverified Information</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4745" y="281305"/>
            <a:ext cx="7027545" cy="572770"/>
          </a:xfrm>
        </p:spPr>
        <p:txBody>
          <a:bodyPr>
            <a:normAutofit fontScale="90000"/>
          </a:bodyPr>
          <a:lstStyle/>
          <a:p>
            <a:pPr marL="152400" algn="just">
              <a:lnSpc>
                <a:spcPct val="100000"/>
              </a:lnSpc>
              <a:spcBef>
                <a:spcPts val="0"/>
              </a:spcBef>
            </a:pPr>
            <a:r>
              <a:rPr lang="en-IN" sz="2500" b="1" dirty="0">
                <a:solidFill>
                  <a:schemeClr val="accent1">
                    <a:lumMod val="75000"/>
                  </a:schemeClr>
                </a:solidFill>
                <a:latin typeface="Times New Roman" panose="02020603050405020304" pitchFamily="18" charset="0"/>
                <a:cs typeface="Times New Roman" panose="02020603050405020304" pitchFamily="18" charset="0"/>
              </a:rPr>
              <a:t>PROPOSED METHOD &amp; FEASIBILITY STUDY</a:t>
            </a:r>
            <a:endParaRPr lang="en-IN" sz="25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6" name="TextBox 5"/>
          <p:cNvSpPr txBox="1"/>
          <p:nvPr/>
        </p:nvSpPr>
        <p:spPr>
          <a:xfrm>
            <a:off x="125730" y="1022985"/>
            <a:ext cx="11228070" cy="10153650"/>
          </a:xfrm>
          <a:prstGeom prst="rect">
            <a:avLst/>
          </a:prstGeom>
          <a:noFill/>
        </p:spPr>
        <p:txBody>
          <a:bodyPr wrap="square" rtlCol="0">
            <a:noAutofit/>
          </a:bodyPr>
          <a:lstStyle/>
          <a:p>
            <a:r>
              <a:rPr lang="en-US" altLang="en-US" sz="2000" dirty="0">
                <a:latin typeface="Times New Roman" panose="02020603050405020304" pitchFamily="18" charset="0"/>
                <a:cs typeface="Times New Roman" panose="02020603050405020304" pitchFamily="18" charset="0"/>
              </a:rPr>
              <a:t>PROPOSED METHOD</a:t>
            </a:r>
            <a:endParaRPr lang="en-US" altLang="en-US" sz="2000"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1.Develop an AI-driven public health chatbot for disease awareness.</a:t>
            </a: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2.Use a hybrid approach  : Keyword-based disease detectionMachine learning model (KNN with TF-IDF) as fallback</a:t>
            </a: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3.Maintain a structured disease dataset with:</a:t>
            </a: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Symptoms:  Modern treatment,Ayurvedic remedies,Emergency guidance</a:t>
            </a: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4.Provide multilingual support (English, Telugu, Kannada, Odia).</a:t>
            </a: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5.Integrate real-time COVID-19 API for live statistics.</a:t>
            </a: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6.Enable voice-based user interaction.</a:t>
            </a: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7Design a mobile-friendly web interface.</a:t>
            </a: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75510" y="365125"/>
            <a:ext cx="9178290" cy="513080"/>
          </a:xfrm>
        </p:spPr>
        <p:txBody>
          <a:bodyPr>
            <a:normAutofit/>
          </a:bodyPr>
          <a:p>
            <a:r>
              <a:rPr lang="en-IN" sz="2500" b="1" dirty="0">
                <a:solidFill>
                  <a:schemeClr val="accent1">
                    <a:lumMod val="75000"/>
                  </a:schemeClr>
                </a:solidFill>
                <a:latin typeface="Times New Roman" panose="02020603050405020304" pitchFamily="18" charset="0"/>
                <a:cs typeface="Times New Roman" panose="02020603050405020304" pitchFamily="18" charset="0"/>
                <a:sym typeface="+mn-ea"/>
              </a:rPr>
              <a:t>PROPOSED METHOD &amp; FEASIBILITY STUDY</a:t>
            </a:r>
            <a:endParaRPr lang="en-US" sz="2500"/>
          </a:p>
        </p:txBody>
      </p:sp>
      <p:sp>
        <p:nvSpPr>
          <p:cNvPr id="3" name="Content Placeholder 2"/>
          <p:cNvSpPr>
            <a:spLocks noGrp="1"/>
          </p:cNvSpPr>
          <p:nvPr>
            <p:ph idx="1"/>
          </p:nvPr>
        </p:nvSpPr>
        <p:spPr>
          <a:xfrm>
            <a:off x="93345" y="962025"/>
            <a:ext cx="11260455" cy="5029200"/>
          </a:xfrm>
        </p:spPr>
        <p:txBody>
          <a:bodyPr>
            <a:normAutofit/>
          </a:bodyPr>
          <a:p>
            <a:pPr marL="0" indent="0">
              <a:buNone/>
            </a:pPr>
            <a:r>
              <a:rPr lang="en-US" altLang="en-US" sz="222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FEASIBILITY STUDY</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665">
                <a:latin typeface="Times New Roman" panose="02020603050405020304" pitchFamily="18" charset="0"/>
                <a:cs typeface="Times New Roman" panose="02020603050405020304" pitchFamily="18" charset="0"/>
              </a:rPr>
              <a:t>1.Technical Feasibility:</a:t>
            </a:r>
            <a:endParaRPr lang="en-US" altLang="en-US" sz="1665">
              <a:latin typeface="Times New Roman" panose="02020603050405020304" pitchFamily="18" charset="0"/>
              <a:cs typeface="Times New Roman" panose="02020603050405020304" pitchFamily="18" charset="0"/>
            </a:endParaRPr>
          </a:p>
          <a:p>
            <a:r>
              <a:rPr lang="en-US" altLang="en-US" sz="1665">
                <a:latin typeface="Times New Roman" panose="02020603050405020304" pitchFamily="18" charset="0"/>
                <a:cs typeface="Times New Roman" panose="02020603050405020304" pitchFamily="18" charset="0"/>
              </a:rPr>
              <a:t>Uses Python, Flask, ML; runs on normal systems.</a:t>
            </a:r>
            <a:endParaRPr lang="en-US" altLang="en-US" sz="1665">
              <a:latin typeface="Times New Roman" panose="02020603050405020304" pitchFamily="18" charset="0"/>
              <a:cs typeface="Times New Roman" panose="02020603050405020304" pitchFamily="18" charset="0"/>
            </a:endParaRPr>
          </a:p>
          <a:p>
            <a:pPr marL="0" indent="0">
              <a:buNone/>
            </a:pPr>
            <a:endParaRPr lang="en-US" altLang="en-US" sz="1665">
              <a:latin typeface="Times New Roman" panose="02020603050405020304" pitchFamily="18" charset="0"/>
              <a:cs typeface="Times New Roman" panose="02020603050405020304" pitchFamily="18" charset="0"/>
            </a:endParaRPr>
          </a:p>
          <a:p>
            <a:pPr marL="0" indent="0">
              <a:buNone/>
            </a:pPr>
            <a:r>
              <a:rPr lang="en-US" altLang="en-US" sz="1665">
                <a:latin typeface="Times New Roman" panose="02020603050405020304" pitchFamily="18" charset="0"/>
                <a:cs typeface="Times New Roman" panose="02020603050405020304" pitchFamily="18" charset="0"/>
              </a:rPr>
              <a:t>2.Economic Feasibility:</a:t>
            </a:r>
            <a:endParaRPr lang="en-US" altLang="en-US" sz="1665">
              <a:latin typeface="Times New Roman" panose="02020603050405020304" pitchFamily="18" charset="0"/>
              <a:cs typeface="Times New Roman" panose="02020603050405020304" pitchFamily="18" charset="0"/>
            </a:endParaRPr>
          </a:p>
          <a:p>
            <a:r>
              <a:rPr lang="en-US" altLang="en-US" sz="1665">
                <a:latin typeface="Times New Roman" panose="02020603050405020304" pitchFamily="18" charset="0"/>
                <a:cs typeface="Times New Roman" panose="02020603050405020304" pitchFamily="18" charset="0"/>
              </a:rPr>
              <a:t>Built using open-source tools; no additional cost involved.</a:t>
            </a:r>
            <a:endParaRPr lang="en-US" altLang="en-US" sz="1665">
              <a:latin typeface="Times New Roman" panose="02020603050405020304" pitchFamily="18" charset="0"/>
              <a:cs typeface="Times New Roman" panose="02020603050405020304" pitchFamily="18" charset="0"/>
            </a:endParaRPr>
          </a:p>
          <a:p>
            <a:endParaRPr lang="en-US" altLang="en-US" sz="1665">
              <a:latin typeface="Times New Roman" panose="02020603050405020304" pitchFamily="18" charset="0"/>
              <a:cs typeface="Times New Roman" panose="02020603050405020304" pitchFamily="18" charset="0"/>
            </a:endParaRPr>
          </a:p>
          <a:p>
            <a:pPr marL="0" indent="0">
              <a:buNone/>
            </a:pPr>
            <a:r>
              <a:rPr lang="en-US" altLang="en-US" sz="1665">
                <a:latin typeface="Times New Roman" panose="02020603050405020304" pitchFamily="18" charset="0"/>
                <a:cs typeface="Times New Roman" panose="02020603050405020304" pitchFamily="18" charset="0"/>
              </a:rPr>
              <a:t>3.Operational Feasibility:</a:t>
            </a:r>
            <a:endParaRPr lang="en-US" altLang="en-US" sz="1665">
              <a:latin typeface="Times New Roman" panose="02020603050405020304" pitchFamily="18" charset="0"/>
              <a:cs typeface="Times New Roman" panose="02020603050405020304" pitchFamily="18" charset="0"/>
            </a:endParaRPr>
          </a:p>
          <a:p>
            <a:r>
              <a:rPr lang="en-US" altLang="en-US" sz="1665">
                <a:latin typeface="Times New Roman" panose="02020603050405020304" pitchFamily="18" charset="0"/>
                <a:cs typeface="Times New Roman" panose="02020603050405020304" pitchFamily="18" charset="0"/>
              </a:rPr>
              <a:t>Easy to use; supports voice and regional languages.</a:t>
            </a:r>
            <a:endParaRPr lang="en-US" altLang="en-US" sz="1665">
              <a:latin typeface="Times New Roman" panose="02020603050405020304" pitchFamily="18" charset="0"/>
              <a:cs typeface="Times New Roman" panose="02020603050405020304" pitchFamily="18" charset="0"/>
            </a:endParaRPr>
          </a:p>
          <a:p>
            <a:endParaRPr lang="en-US" altLang="en-US" sz="1665">
              <a:latin typeface="Times New Roman" panose="02020603050405020304" pitchFamily="18" charset="0"/>
              <a:cs typeface="Times New Roman" panose="02020603050405020304" pitchFamily="18" charset="0"/>
            </a:endParaRPr>
          </a:p>
          <a:p>
            <a:pPr marL="0" indent="0">
              <a:buNone/>
            </a:pPr>
            <a:r>
              <a:rPr lang="en-US" altLang="en-US" sz="1665">
                <a:latin typeface="Times New Roman" panose="02020603050405020304" pitchFamily="18" charset="0"/>
                <a:cs typeface="Times New Roman" panose="02020603050405020304" pitchFamily="18" charset="0"/>
              </a:rPr>
              <a:t>Social Feasibility:</a:t>
            </a:r>
            <a:endParaRPr lang="en-US" altLang="en-US" sz="1665">
              <a:latin typeface="Times New Roman" panose="02020603050405020304" pitchFamily="18" charset="0"/>
              <a:cs typeface="Times New Roman" panose="02020603050405020304" pitchFamily="18" charset="0"/>
            </a:endParaRPr>
          </a:p>
          <a:p>
            <a:r>
              <a:rPr lang="en-US" altLang="en-US" sz="1665">
                <a:latin typeface="Times New Roman" panose="02020603050405020304" pitchFamily="18" charset="0"/>
                <a:cs typeface="Times New Roman" panose="02020603050405020304" pitchFamily="18" charset="0"/>
              </a:rPr>
              <a:t>Improves public health awareness and accessibility.</a:t>
            </a:r>
            <a:endParaRPr lang="en-US" altLang="en-US" sz="1665">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0765" y="365125"/>
            <a:ext cx="7773035" cy="447040"/>
          </a:xfrm>
        </p:spPr>
        <p:txBody>
          <a:bodyPr>
            <a:normAutofit fontScale="90000"/>
          </a:bodyPr>
          <a:lstStyle/>
          <a:p>
            <a:pPr marL="152400" algn="just">
              <a:lnSpc>
                <a:spcPct val="100000"/>
              </a:lnSpc>
              <a:spcBef>
                <a:spcPts val="0"/>
              </a:spcBef>
            </a:pPr>
            <a:r>
              <a:rPr lang="en-IN" sz="2500" b="1" dirty="0">
                <a:solidFill>
                  <a:schemeClr val="accent1">
                    <a:lumMod val="75000"/>
                  </a:schemeClr>
                </a:solidFill>
                <a:latin typeface="Times New Roman" panose="02020603050405020304" pitchFamily="18" charset="0"/>
                <a:cs typeface="Times New Roman" panose="02020603050405020304" pitchFamily="18" charset="0"/>
              </a:rPr>
              <a:t>ARCHITECTURE DIAGRAM</a:t>
            </a:r>
            <a:endParaRPr lang="en-IN" sz="25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8" name="Rectangle 7"/>
          <p:cNvSpPr/>
          <p:nvPr/>
        </p:nvSpPr>
        <p:spPr>
          <a:xfrm>
            <a:off x="4334510" y="1100455"/>
            <a:ext cx="2524125" cy="43243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t>USER INTERFACE</a:t>
            </a:r>
            <a:endParaRPr lang="en-US"/>
          </a:p>
        </p:txBody>
      </p:sp>
      <p:sp>
        <p:nvSpPr>
          <p:cNvPr id="9" name="Text Box 8"/>
          <p:cNvSpPr txBox="1"/>
          <p:nvPr/>
        </p:nvSpPr>
        <p:spPr>
          <a:xfrm>
            <a:off x="5367020" y="1544955"/>
            <a:ext cx="264160" cy="1718310"/>
          </a:xfrm>
          <a:prstGeom prst="rect">
            <a:avLst/>
          </a:prstGeom>
          <a:noFill/>
        </p:spPr>
        <p:txBody>
          <a:bodyPr wrap="none" rtlCol="0" anchor="t">
            <a:noAutofit/>
          </a:bodyPr>
          <a:p>
            <a:r>
              <a:rPr lang="en-US" sz="2400">
                <a:latin typeface="Arial" panose="020B0604020202020204" pitchFamily="34" charset="0"/>
                <a:cs typeface="Arial" panose="020B0604020202020204" pitchFamily="34" charset="0"/>
              </a:rPr>
              <a:t>↓</a:t>
            </a:r>
            <a:endParaRPr lang="en-US" sz="2400">
              <a:latin typeface="Arial" panose="020B0604020202020204" pitchFamily="34" charset="0"/>
              <a:cs typeface="Arial" panose="020B0604020202020204" pitchFamily="34" charset="0"/>
            </a:endParaRPr>
          </a:p>
        </p:txBody>
      </p:sp>
      <p:sp>
        <p:nvSpPr>
          <p:cNvPr id="12" name="Rectangle 11"/>
          <p:cNvSpPr/>
          <p:nvPr/>
        </p:nvSpPr>
        <p:spPr>
          <a:xfrm>
            <a:off x="4231640" y="1942465"/>
            <a:ext cx="2870835" cy="118554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t>INPUT_PROCESSING</a:t>
            </a:r>
            <a:endParaRPr lang="en-US"/>
          </a:p>
          <a:p>
            <a:pPr algn="ctr"/>
            <a:r>
              <a:rPr lang="en-US"/>
              <a:t>TEXT/VOICE,</a:t>
            </a:r>
            <a:endParaRPr lang="en-US"/>
          </a:p>
          <a:p>
            <a:pPr algn="ctr"/>
            <a:r>
              <a:rPr lang="en-US"/>
              <a:t>LANGUAGE_TRANSALATION</a:t>
            </a:r>
            <a:endParaRPr lang="en-US"/>
          </a:p>
        </p:txBody>
      </p:sp>
      <p:sp>
        <p:nvSpPr>
          <p:cNvPr id="13" name="Text Box 12"/>
          <p:cNvSpPr txBox="1"/>
          <p:nvPr/>
        </p:nvSpPr>
        <p:spPr>
          <a:xfrm>
            <a:off x="5367020" y="3190240"/>
            <a:ext cx="772160" cy="485140"/>
          </a:xfrm>
          <a:prstGeom prst="rect">
            <a:avLst/>
          </a:prstGeom>
          <a:noFill/>
        </p:spPr>
        <p:txBody>
          <a:bodyPr wrap="none" rtlCol="0" anchor="t">
            <a:noAutofit/>
          </a:bodyPr>
          <a:p>
            <a:r>
              <a:rPr lang="en-US" sz="2800">
                <a:latin typeface="Arial" panose="020B0604020202020204" pitchFamily="34" charset="0"/>
                <a:cs typeface="Arial" panose="020B0604020202020204" pitchFamily="34" charset="0"/>
              </a:rPr>
              <a:t>↓</a:t>
            </a:r>
            <a:endParaRPr lang="en-US" sz="2800">
              <a:latin typeface="Arial" panose="020B0604020202020204" pitchFamily="34" charset="0"/>
              <a:cs typeface="Arial" panose="020B0604020202020204" pitchFamily="34" charset="0"/>
            </a:endParaRPr>
          </a:p>
        </p:txBody>
      </p:sp>
      <p:sp>
        <p:nvSpPr>
          <p:cNvPr id="14" name="Rectangle 13"/>
          <p:cNvSpPr/>
          <p:nvPr/>
        </p:nvSpPr>
        <p:spPr>
          <a:xfrm>
            <a:off x="4232275" y="3737610"/>
            <a:ext cx="2870835" cy="7493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t>MACHINE LEARNING LAYER</a:t>
            </a:r>
            <a:endParaRPr lang="en-US"/>
          </a:p>
        </p:txBody>
      </p:sp>
      <p:sp>
        <p:nvSpPr>
          <p:cNvPr id="15" name="Text Box 14"/>
          <p:cNvSpPr txBox="1"/>
          <p:nvPr/>
        </p:nvSpPr>
        <p:spPr>
          <a:xfrm>
            <a:off x="5367655" y="4549140"/>
            <a:ext cx="771525" cy="577850"/>
          </a:xfrm>
          <a:prstGeom prst="rect">
            <a:avLst/>
          </a:prstGeom>
          <a:noFill/>
        </p:spPr>
        <p:txBody>
          <a:bodyPr wrap="none" rtlCol="0" anchor="t">
            <a:noAutofit/>
          </a:bodyPr>
          <a:p>
            <a:r>
              <a:rPr lang="en-US" sz="2400">
                <a:latin typeface="Arial" panose="020B0604020202020204" pitchFamily="34" charset="0"/>
                <a:cs typeface="Arial" panose="020B0604020202020204" pitchFamily="34" charset="0"/>
              </a:rPr>
              <a:t>↓</a:t>
            </a:r>
            <a:endParaRPr lang="en-US" sz="2400">
              <a:latin typeface="Arial" panose="020B0604020202020204" pitchFamily="34" charset="0"/>
              <a:cs typeface="Arial" panose="020B0604020202020204" pitchFamily="34" charset="0"/>
            </a:endParaRPr>
          </a:p>
        </p:txBody>
      </p:sp>
      <p:sp>
        <p:nvSpPr>
          <p:cNvPr id="16" name="Rectangle 15"/>
          <p:cNvSpPr/>
          <p:nvPr/>
        </p:nvSpPr>
        <p:spPr>
          <a:xfrm>
            <a:off x="4317365" y="5029200"/>
            <a:ext cx="2997200" cy="74485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t>OUTPUT AND RECOMMENDATION</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0800" y="365125"/>
            <a:ext cx="7493000" cy="514985"/>
          </a:xfrm>
        </p:spPr>
        <p:txBody>
          <a:bodyPr/>
          <a:lstStyle/>
          <a:p>
            <a:pPr marL="152400" algn="just">
              <a:lnSpc>
                <a:spcPct val="100000"/>
              </a:lnSpc>
              <a:spcBef>
                <a:spcPts val="0"/>
              </a:spcBef>
            </a:pPr>
            <a:r>
              <a:rPr lang="en-IN" sz="2500" b="1" dirty="0">
                <a:solidFill>
                  <a:schemeClr val="accent1">
                    <a:lumMod val="75000"/>
                  </a:schemeClr>
                </a:solidFill>
                <a:latin typeface="Times New Roman" panose="02020603050405020304" pitchFamily="18" charset="0"/>
                <a:cs typeface="Times New Roman" panose="02020603050405020304" pitchFamily="18" charset="0"/>
              </a:rPr>
              <a:t>MODULES</a:t>
            </a:r>
            <a:endParaRPr lang="en-IN" sz="25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5" name="TextBox 4"/>
          <p:cNvSpPr txBox="1"/>
          <p:nvPr/>
        </p:nvSpPr>
        <p:spPr>
          <a:xfrm>
            <a:off x="294005" y="880745"/>
            <a:ext cx="11376660" cy="4295140"/>
          </a:xfrm>
          <a:prstGeom prst="rect">
            <a:avLst/>
          </a:prstGeom>
          <a:noFill/>
        </p:spPr>
        <p:txBody>
          <a:bodyPr wrap="square" rtlCol="0">
            <a:noAutofit/>
          </a:bodyPr>
          <a:lstStyle/>
          <a:p>
            <a:pPr>
              <a:lnSpc>
                <a:spcPct val="150000"/>
              </a:lnSpc>
            </a:pPr>
            <a:r>
              <a:rPr lang="en-IN" sz="2000" b="1" dirty="0">
                <a:latin typeface="Times New Roman" panose="02020603050405020304" pitchFamily="18" charset="0"/>
                <a:cs typeface="Times New Roman" panose="02020603050405020304" pitchFamily="18" charset="0"/>
              </a:rPr>
              <a:t>System Modules</a:t>
            </a:r>
            <a:endParaRPr lang="en-IN" sz="2000"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1.User Interface Module</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2.Speech-to-Text Module</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3.API Gateway Module</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4.Preprocessing Module</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5.Keyword Matching Module</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6.Machine Learning Module</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7.Disease Dataset Module</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8.External API Module</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9.Response Generation Module</a:t>
            </a: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10.Multilingual Output Module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6755" y="365125"/>
            <a:ext cx="8107045" cy="457835"/>
          </a:xfrm>
        </p:spPr>
        <p:txBody>
          <a:bodyPr>
            <a:normAutofit fontScale="90000"/>
          </a:bodyPr>
          <a:lstStyle/>
          <a:p>
            <a:pPr marL="152400" algn="just">
              <a:lnSpc>
                <a:spcPct val="100000"/>
              </a:lnSpc>
              <a:spcBef>
                <a:spcPts val="0"/>
              </a:spcBef>
            </a:pPr>
            <a:r>
              <a:rPr lang="en-IN" sz="2500" b="1" dirty="0">
                <a:solidFill>
                  <a:schemeClr val="accent1">
                    <a:lumMod val="75000"/>
                  </a:schemeClr>
                </a:solidFill>
                <a:latin typeface="Times New Roman" panose="02020603050405020304" pitchFamily="18" charset="0"/>
                <a:cs typeface="Times New Roman" panose="02020603050405020304" pitchFamily="18" charset="0"/>
              </a:rPr>
              <a:t>HARDWARE AND SOFTWARE DETAILS</a:t>
            </a:r>
            <a:endParaRPr lang="en-IN" sz="25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fld>
            <a:endParaRPr lang="en-US" altLang="en-US">
              <a:latin typeface="Times New Roman" panose="02020603050405020304" pitchFamily="18" charset="0"/>
              <a:cs typeface="Times New Roman" panose="02020603050405020304" pitchFamily="18" charset="0"/>
            </a:endParaRPr>
          </a:p>
        </p:txBody>
      </p:sp>
      <p:sp>
        <p:nvSpPr>
          <p:cNvPr id="6" name="TextBox 5"/>
          <p:cNvSpPr txBox="1"/>
          <p:nvPr/>
        </p:nvSpPr>
        <p:spPr>
          <a:xfrm>
            <a:off x="165735" y="822960"/>
            <a:ext cx="11304905" cy="4309745"/>
          </a:xfrm>
          <a:prstGeom prst="rect">
            <a:avLst/>
          </a:prstGeom>
          <a:noFill/>
        </p:spPr>
        <p:txBody>
          <a:bodyPr wrap="square" rtlCol="0">
            <a:noAutofit/>
          </a:bodyPr>
          <a:lstStyle/>
          <a:p>
            <a:pPr>
              <a:lnSpc>
                <a:spcPct val="150000"/>
              </a:lnSpc>
            </a:pPr>
            <a:r>
              <a:rPr lang="en-IN" b="1"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sz="1500" dirty="0">
                <a:latin typeface="Times New Roman" panose="02020603050405020304" pitchFamily="18" charset="0"/>
                <a:cs typeface="Times New Roman" panose="02020603050405020304" pitchFamily="18" charset="0"/>
              </a:rPr>
              <a:t>1.Standard PC / Laptop</a:t>
            </a:r>
            <a:endParaRPr lang="en-US" altLang="en-US" sz="1500"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sz="1500" dirty="0">
                <a:latin typeface="Times New Roman" panose="02020603050405020304" pitchFamily="18" charset="0"/>
                <a:cs typeface="Times New Roman" panose="02020603050405020304" pitchFamily="18" charset="0"/>
              </a:rPr>
              <a:t>2.Microphone (for voice input)</a:t>
            </a:r>
            <a:endParaRPr lang="en-US" altLang="en-US" sz="1500"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sz="1500" dirty="0">
                <a:latin typeface="Times New Roman" panose="02020603050405020304" pitchFamily="18" charset="0"/>
                <a:cs typeface="Times New Roman" panose="02020603050405020304" pitchFamily="18" charset="0"/>
              </a:rPr>
              <a:t>3.Internet connection</a:t>
            </a:r>
            <a:r>
              <a:rPr lang="en-IN" sz="1500" dirty="0">
                <a:latin typeface="Times New Roman" panose="02020603050405020304" pitchFamily="18" charset="0"/>
                <a:cs typeface="Times New Roman" panose="02020603050405020304" pitchFamily="18" charset="0"/>
              </a:rPr>
              <a:t>Software Requirements</a:t>
            </a:r>
            <a:endParaRPr lang="en-IN" sz="1500"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endParaRPr lang="en-IN" sz="1500"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b="1" dirty="0">
                <a:latin typeface="Times New Roman" panose="02020603050405020304" pitchFamily="18" charset="0"/>
                <a:cs typeface="Times New Roman" panose="02020603050405020304" pitchFamily="18" charset="0"/>
              </a:rPr>
              <a:t>Software Requirements</a:t>
            </a:r>
            <a:endParaRPr lang="en-US" altLang="en-US" b="1"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sz="1500" dirty="0">
                <a:latin typeface="Times New Roman" panose="02020603050405020304" pitchFamily="18" charset="0"/>
                <a:cs typeface="Times New Roman" panose="02020603050405020304" pitchFamily="18" charset="0"/>
              </a:rPr>
              <a:t>1.Frontend: HTML, CSS, JavaScript</a:t>
            </a:r>
            <a:endParaRPr lang="en-US" altLang="en-US" sz="1500"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sz="1500" dirty="0">
                <a:latin typeface="Times New Roman" panose="02020603050405020304" pitchFamily="18" charset="0"/>
                <a:cs typeface="Times New Roman" panose="02020603050405020304" pitchFamily="18" charset="0"/>
              </a:rPr>
              <a:t>2.Backend: Python (Flask)</a:t>
            </a:r>
            <a:endParaRPr lang="en-US" altLang="en-US" sz="1500"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sz="1500" dirty="0">
                <a:latin typeface="Times New Roman" panose="02020603050405020304" pitchFamily="18" charset="0"/>
                <a:cs typeface="Times New Roman" panose="02020603050405020304" pitchFamily="18" charset="0"/>
              </a:rPr>
              <a:t>3.Machine Learning: Scikit-learn, TF-IDF</a:t>
            </a:r>
            <a:endParaRPr lang="en-US" altLang="en-US" sz="1500"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sz="1500" dirty="0">
                <a:latin typeface="Times New Roman" panose="02020603050405020304" pitchFamily="18" charset="0"/>
                <a:cs typeface="Times New Roman" panose="02020603050405020304" pitchFamily="18" charset="0"/>
              </a:rPr>
              <a:t>4.Database: CSV / SQLite</a:t>
            </a:r>
            <a:endParaRPr lang="en-US" altLang="en-US" sz="1500"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sz="1500" dirty="0">
                <a:latin typeface="Times New Roman" panose="02020603050405020304" pitchFamily="18" charset="0"/>
                <a:cs typeface="Times New Roman" panose="02020603050405020304" pitchFamily="18" charset="0"/>
              </a:rPr>
              <a:t>5.Voice Support: Web Speech API</a:t>
            </a:r>
            <a:endParaRPr lang="en-US" altLang="en-US" sz="1500" dirty="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r>
              <a:rPr lang="en-US" altLang="en-US" sz="1500" dirty="0">
                <a:latin typeface="Times New Roman" panose="02020603050405020304" pitchFamily="18" charset="0"/>
                <a:cs typeface="Times New Roman" panose="02020603050405020304" pitchFamily="18" charset="0"/>
              </a:rPr>
              <a:t>6.Deployment: Local Server</a:t>
            </a:r>
            <a:endParaRPr lang="en-US" altLang="en-US" sz="1500" dirty="0">
              <a:latin typeface="Times New Roman" panose="02020603050405020304" pitchFamily="18" charset="0"/>
              <a:cs typeface="Times New Roman" panose="02020603050405020304" pitchFamily="18" charset="0"/>
            </a:endParaRPr>
          </a:p>
          <a:p>
            <a:endParaRPr lang="en-US" alt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TIMELINE</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cxnSp>
        <p:nvCxnSpPr>
          <p:cNvPr id="6" name="Straight Connector 5"/>
          <p:cNvCxnSpPr/>
          <p:nvPr/>
        </p:nvCxnSpPr>
        <p:spPr>
          <a:xfrm>
            <a:off x="589935" y="1184366"/>
            <a:ext cx="11080955" cy="0"/>
          </a:xfrm>
          <a:prstGeom prst="line">
            <a:avLst/>
          </a:prstGeom>
          <a:ln w="28575"/>
        </p:spPr>
        <p:style>
          <a:lnRef idx="3">
            <a:schemeClr val="accent1"/>
          </a:lnRef>
          <a:fillRef idx="0">
            <a:schemeClr val="accent1"/>
          </a:fillRef>
          <a:effectRef idx="2">
            <a:schemeClr val="accent1"/>
          </a:effectRef>
          <a:fontRef idx="minor">
            <a:schemeClr val="tx1"/>
          </a:fontRef>
        </p:style>
      </p:cxnSp>
      <p:graphicFrame>
        <p:nvGraphicFramePr>
          <p:cNvPr id="7" name="Table 6"/>
          <p:cNvGraphicFramePr>
            <a:graphicFrameLocks noGrp="1"/>
          </p:cNvGraphicFramePr>
          <p:nvPr/>
        </p:nvGraphicFramePr>
        <p:xfrm>
          <a:off x="1465729" y="1306171"/>
          <a:ext cx="9520518" cy="4515972"/>
        </p:xfrm>
        <a:graphic>
          <a:graphicData uri="http://schemas.openxmlformats.org/drawingml/2006/table">
            <a:tbl>
              <a:tblPr firstRow="1">
                <a:tableStyleId>{3C2FFA5D-87B4-456A-9821-1D502468CF0F}</a:tableStyleId>
              </a:tblPr>
              <a:tblGrid>
                <a:gridCol w="2814820"/>
                <a:gridCol w="6705698"/>
              </a:tblGrid>
              <a:tr h="752662">
                <a:tc>
                  <a:txBody>
                    <a:bodyPr/>
                    <a:lstStyle/>
                    <a:p>
                      <a:pPr>
                        <a:buNone/>
                      </a:pPr>
                      <a:r>
                        <a:rPr lang="en-IN">
                          <a:latin typeface="Times New Roman" panose="02020603050405020304" pitchFamily="18" charset="0"/>
                          <a:cs typeface="Times New Roman" panose="02020603050405020304" pitchFamily="18" charset="0"/>
                        </a:rPr>
                        <a:t>Review</a:t>
                      </a:r>
                      <a:endParaRPr lang="en-IN">
                        <a:latin typeface="Times New Roman" panose="02020603050405020304" pitchFamily="18" charset="0"/>
                        <a:cs typeface="Times New Roman" panose="02020603050405020304" pitchFamily="18" charset="0"/>
                      </a:endParaRPr>
                    </a:p>
                  </a:txBody>
                  <a:tcPr anchor="ctr">
                    <a:lnL w="9525" cap="flat" cmpd="sng" algn="ctr">
                      <a:noFill/>
                      <a:prstDash val="solid"/>
                    </a:lnL>
                    <a:lnR w="12700" cap="flat" cmpd="sng" algn="ctr">
                      <a:solidFill>
                        <a:schemeClr val="tx1"/>
                      </a:solidFill>
                      <a:prstDash val="solid"/>
                      <a:round/>
                      <a:headEnd type="none" w="med" len="med"/>
                      <a:tailEnd type="none" w="med" len="me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dirty="0">
                          <a:latin typeface="Times New Roman" panose="02020603050405020304" pitchFamily="18" charset="0"/>
                          <a:cs typeface="Times New Roman" panose="02020603050405020304" pitchFamily="18" charset="0"/>
                        </a:rPr>
                        <a:t>Planned Outcome</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9525" cap="flat" cmpd="sng" algn="ctr">
                      <a:noFill/>
                      <a:prstDash val="soli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52662">
                <a:tc>
                  <a:txBody>
                    <a:bodyPr/>
                    <a:lstStyle/>
                    <a:p>
                      <a:pPr>
                        <a:buNone/>
                      </a:pPr>
                      <a:r>
                        <a:rPr lang="en-IN" dirty="0">
                          <a:latin typeface="Times New Roman" panose="02020603050405020304" pitchFamily="18" charset="0"/>
                          <a:cs typeface="Times New Roman" panose="02020603050405020304" pitchFamily="18" charset="0"/>
                        </a:rPr>
                        <a:t>Review-1</a:t>
                      </a:r>
                      <a:endParaRPr lang="en-IN" dirty="0">
                        <a:latin typeface="Times New Roman" panose="02020603050405020304" pitchFamily="18" charset="0"/>
                        <a:cs typeface="Times New Roman" panose="02020603050405020304" pitchFamily="18" charset="0"/>
                      </a:endParaRP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dirty="0">
                          <a:latin typeface="Times New Roman" panose="02020603050405020304" pitchFamily="18" charset="0"/>
                          <a:cs typeface="Times New Roman" panose="02020603050405020304" pitchFamily="18" charset="0"/>
                        </a:rPr>
                        <a:t>Problem analysis, literature survey, objectives</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52662">
                <a:tc>
                  <a:txBody>
                    <a:bodyPr/>
                    <a:lstStyle/>
                    <a:p>
                      <a:pPr>
                        <a:buNone/>
                      </a:pPr>
                      <a:r>
                        <a:rPr lang="en-IN">
                          <a:latin typeface="Times New Roman" panose="02020603050405020304" pitchFamily="18" charset="0"/>
                          <a:cs typeface="Times New Roman" panose="02020603050405020304" pitchFamily="18" charset="0"/>
                        </a:rPr>
                        <a:t>Review-2</a:t>
                      </a:r>
                      <a:endParaRPr lang="en-IN">
                        <a:latin typeface="Times New Roman" panose="02020603050405020304" pitchFamily="18" charset="0"/>
                        <a:cs typeface="Times New Roman" panose="02020603050405020304" pitchFamily="18" charset="0"/>
                      </a:endParaRP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a:latin typeface="Times New Roman" panose="02020603050405020304" pitchFamily="18" charset="0"/>
                          <a:cs typeface="Times New Roman" panose="02020603050405020304" pitchFamily="18" charset="0"/>
                        </a:rPr>
                        <a:t>System design &amp; architecture</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52662">
                <a:tc>
                  <a:txBody>
                    <a:bodyPr/>
                    <a:lstStyle/>
                    <a:p>
                      <a:pPr>
                        <a:buNone/>
                      </a:pPr>
                      <a:r>
                        <a:rPr lang="en-IN">
                          <a:latin typeface="Times New Roman" panose="02020603050405020304" pitchFamily="18" charset="0"/>
                          <a:cs typeface="Times New Roman" panose="02020603050405020304" pitchFamily="18" charset="0"/>
                        </a:rPr>
                        <a:t>Review-3</a:t>
                      </a:r>
                      <a:endParaRPr lang="en-IN">
                        <a:latin typeface="Times New Roman" panose="02020603050405020304" pitchFamily="18" charset="0"/>
                        <a:cs typeface="Times New Roman" panose="02020603050405020304" pitchFamily="18" charset="0"/>
                      </a:endParaRP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dirty="0">
                          <a:latin typeface="Times New Roman" panose="02020603050405020304" pitchFamily="18" charset="0"/>
                          <a:cs typeface="Times New Roman" panose="02020603050405020304" pitchFamily="18" charset="0"/>
                        </a:rPr>
                        <a:t>50% module implementation</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52662">
                <a:tc>
                  <a:txBody>
                    <a:bodyPr/>
                    <a:lstStyle/>
                    <a:p>
                      <a:pPr>
                        <a:buNone/>
                      </a:pPr>
                      <a:r>
                        <a:rPr lang="en-IN">
                          <a:latin typeface="Times New Roman" panose="02020603050405020304" pitchFamily="18" charset="0"/>
                          <a:cs typeface="Times New Roman" panose="02020603050405020304" pitchFamily="18" charset="0"/>
                        </a:rPr>
                        <a:t>Review-4</a:t>
                      </a:r>
                      <a:endParaRPr lang="en-IN">
                        <a:latin typeface="Times New Roman" panose="02020603050405020304" pitchFamily="18" charset="0"/>
                        <a:cs typeface="Times New Roman" panose="02020603050405020304" pitchFamily="18" charset="0"/>
                      </a:endParaRP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a:latin typeface="Times New Roman" panose="02020603050405020304" pitchFamily="18" charset="0"/>
                          <a:cs typeface="Times New Roman" panose="02020603050405020304" pitchFamily="18" charset="0"/>
                        </a:rPr>
                        <a:t>80% system implementation</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52662">
                <a:tc>
                  <a:txBody>
                    <a:bodyPr/>
                    <a:lstStyle/>
                    <a:p>
                      <a:pPr>
                        <a:buNone/>
                      </a:pPr>
                      <a:r>
                        <a:rPr lang="en-IN">
                          <a:latin typeface="Times New Roman" panose="02020603050405020304" pitchFamily="18" charset="0"/>
                          <a:cs typeface="Times New Roman" panose="02020603050405020304" pitchFamily="18" charset="0"/>
                        </a:rPr>
                        <a:t>Final Viva</a:t>
                      </a:r>
                      <a:endParaRPr lang="en-IN">
                        <a:latin typeface="Times New Roman" panose="02020603050405020304" pitchFamily="18" charset="0"/>
                        <a:cs typeface="Times New Roman" panose="02020603050405020304" pitchFamily="18" charset="0"/>
                      </a:endParaRPr>
                    </a:p>
                  </a:txBody>
                  <a:tcPr anchor="ct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a:buNone/>
                      </a:pPr>
                      <a:r>
                        <a:rPr lang="en-US" dirty="0">
                          <a:latin typeface="Times New Roman" panose="02020603050405020304" pitchFamily="18" charset="0"/>
                          <a:cs typeface="Times New Roman" panose="02020603050405020304" pitchFamily="18" charset="0"/>
                        </a:rPr>
                        <a:t>Fully functional system + research paper</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5" name="TextBox 4"/>
          <p:cNvSpPr txBox="1"/>
          <p:nvPr/>
        </p:nvSpPr>
        <p:spPr>
          <a:xfrm>
            <a:off x="1087821" y="1764868"/>
            <a:ext cx="10265979" cy="368300"/>
          </a:xfrm>
          <a:prstGeom prst="rect">
            <a:avLst/>
          </a:prstGeom>
          <a:noFill/>
        </p:spPr>
        <p:txBody>
          <a:bodyPr wrap="square" rtlCol="0">
            <a:spAutoFit/>
          </a:bodyPr>
          <a:lstStyle/>
          <a:p>
            <a:r>
              <a:rPr lang="en-US" altLang="en-US" dirty="0">
                <a:solidFill>
                  <a:schemeClr val="accent1"/>
                </a:solidFill>
                <a:latin typeface="Times New Roman" panose="02020603050405020304" pitchFamily="18" charset="0"/>
                <a:cs typeface="Times New Roman" panose="02020603050405020304" pitchFamily="18" charset="0"/>
              </a:rPr>
              <a:t>https://github.com/ANUSHA474-ai/AI-Driven-public-health-chatbot-for-disease-Awareness</a:t>
            </a:r>
            <a:endParaRPr lang="en-US" altLang="en-US" dirty="0">
              <a:solidFill>
                <a:schemeClr val="accent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087821" y="1340069"/>
            <a:ext cx="2569779" cy="369332"/>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Github</a:t>
            </a:r>
            <a:r>
              <a:rPr lang="en-US" dirty="0">
                <a:latin typeface="Times New Roman" panose="02020603050405020304" pitchFamily="18" charset="0"/>
                <a:cs typeface="Times New Roman" panose="02020603050405020304" pitchFamily="18" charset="0"/>
              </a:rPr>
              <a:t> Link : </a:t>
            </a: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endParaRPr lang="en-US" sz="6600" dirty="0">
              <a:solidFill>
                <a:schemeClr val="accent2">
                  <a:lumMod val="40000"/>
                  <a:lumOff val="60000"/>
                </a:schemeClr>
              </a:solidFill>
              <a:latin typeface="Times New Roman" panose="02020603050405020304" pitchFamily="18" charset="0"/>
              <a:cs typeface="Times New Roman" panose="02020603050405020304" pitchFamily="18" charset="0"/>
            </a:endParaRP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6857</Words>
  <Application>WPS Presentation</Application>
  <PresentationFormat>Widescreen</PresentationFormat>
  <Paragraphs>266</Paragraphs>
  <Slides>15</Slides>
  <Notes>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Arial</vt:lpstr>
      <vt:lpstr>Cambria</vt:lpstr>
      <vt:lpstr>Verdana</vt:lpstr>
      <vt:lpstr>Times New Roman</vt:lpstr>
      <vt:lpstr>Tahoma</vt:lpstr>
      <vt:lpstr>Microsoft YaHei</vt:lpstr>
      <vt:lpstr>Arial Unicode MS</vt:lpstr>
      <vt:lpstr>Calibri Light</vt:lpstr>
      <vt:lpstr>Calibri</vt:lpstr>
      <vt:lpstr>Office Theme</vt:lpstr>
      <vt:lpstr>PowerPoint 演示文稿</vt:lpstr>
      <vt:lpstr>Content</vt:lpstr>
      <vt:lpstr>                                 ABSTRACT</vt:lpstr>
      <vt:lpstr>LITERATURE SURVEY</vt:lpstr>
      <vt:lpstr>OBJECTIVES</vt:lpstr>
      <vt:lpstr>EXISTING METHODS AND DRAWBACKS</vt:lpstr>
      <vt:lpstr>PROPOSED METHOD &amp; FEASIBILITY STUDY</vt:lpstr>
      <vt:lpstr>PROPOSED METHOD &amp; FEASIBILITY STUDY</vt:lpstr>
      <vt:lpstr>ARCHITECTURE DIAGRAM</vt:lpstr>
      <vt:lpstr>MODULES</vt:lpstr>
      <vt:lpstr>HARDWARE AND SOFTWARE DETAILS</vt:lpstr>
      <vt:lpstr>TIMELINE</vt:lpstr>
      <vt:lpstr>Github Link</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saimanju</cp:lastModifiedBy>
  <cp:revision>722</cp:revision>
  <dcterms:created xsi:type="dcterms:W3CDTF">2022-10-14T07:18:00Z</dcterms:created>
  <dcterms:modified xsi:type="dcterms:W3CDTF">2026-04-23T15:57:04Z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410FF2D812814B4CB713110CD4C4CC17_12</vt:lpwstr>
  </property>
  <property fmtid="{D5CDD505-2E9C-101B-9397-08002B2CF9AE}" pid="3" name="KSOProductBuildVer">
    <vt:lpwstr>1033-12.1.0.25242</vt:lpwstr>
  </property>
</Properties>
</file>